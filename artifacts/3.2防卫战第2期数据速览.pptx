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3.2 第1期</c:v>
                </c:pt>
              </c:strCache>
            </c:strRef>
          </c:tx>
          <c:spPr>
            <a:solidFill>
              <a:srgbClr val="8E9AAE"/>
            </a:solidFill>
          </c:spPr>
          <c:cat>
            <c:strRef>
              <c:f>Sheet1!$A$2:$A$5</c:f>
              <c:strCache>
                <c:ptCount val="4"/>
                <c:pt idx="0">
                  <c:v>总血量</c:v>
                </c:pt>
                <c:pt idx="1">
                  <c:v>房间1</c:v>
                </c:pt>
                <c:pt idx="2">
                  <c:v>房间2</c:v>
                </c:pt>
                <c:pt idx="3">
                  <c:v>房间3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16780.7793</c:v>
                </c:pt>
                <c:pt idx="1">
                  <c:v>4826.3094</c:v>
                </c:pt>
                <c:pt idx="2">
                  <c:v>5519.818</c:v>
                </c:pt>
                <c:pt idx="3">
                  <c:v>6434.6519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3.2 第2期</c:v>
                </c:pt>
              </c:strCache>
            </c:strRef>
          </c:tx>
          <c:spPr>
            <a:solidFill>
              <a:srgbClr val="E8620D"/>
            </a:solidFill>
          </c:spPr>
          <c:cat>
            <c:strRef>
              <c:f>Sheet1!$A$2:$A$5</c:f>
              <c:strCache>
                <c:ptCount val="4"/>
                <c:pt idx="0">
                  <c:v>总血量</c:v>
                </c:pt>
                <c:pt idx="1">
                  <c:v>房间1</c:v>
                </c:pt>
                <c:pt idx="2">
                  <c:v>房间2</c:v>
                </c:pt>
                <c:pt idx="3">
                  <c:v>房间3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15877.3584</c:v>
                </c:pt>
                <c:pt idx="1">
                  <c:v>5077.4677</c:v>
                </c:pt>
                <c:pt idx="2">
                  <c:v>6068.4992</c:v>
                </c:pt>
                <c:pt idx="3">
                  <c:v>4731.3915</c:v>
                </c:pt>
              </c:numCache>
            </c:numRef>
          </c:val>
        </c:ser>
        <c:dLbls>
          <c:numFmt formatCode="#,##0&quot;万&quot;" sourceLinked="0"/>
          <c:txPr>
            <a:bodyPr/>
            <a:lstStyle/>
            <a:p>
              <a:pPr>
                <a:defRPr sz="900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95728"/>
            <a:ext cx="1554480" cy="63500"/>
          </a:xfrm>
          <a:prstGeom prst="rect">
            <a:avLst/>
          </a:prstGeom>
          <a:solidFill>
            <a:srgbClr val="E86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3.2 式舆防卫战 · 第2期</a:t>
            </a:r>
          </a:p>
          <a:p>
            <a:pPr algn="l">
              <a:spcAft>
                <a:spcPts val="2600"/>
              </a:spcAft>
            </a:pPr>
            <a:r>
              <a:rPr sz="2400" b="0">
                <a:solidFill>
                  <a:srgbClr val="C9D2E0"/>
                </a:solidFill>
                <a:latin typeface="微软雅黑"/>
              </a:rPr>
              <a:t>数据速览与上期对比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6B8"/>
                </a:solidFill>
                <a:latin typeface="微软雅黑"/>
              </a:rPr>
              <a:t>第2期开放时间：2026.10.2-2026.10.16　　第1期：2026.9.18-2026.10.2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4A6"/>
                </a:solidFill>
                <a:latin typeface="微软雅黑"/>
              </a:rPr>
              <a:t>数据来源：zzz-hp.top 防卫战数据库（seasonId 321 / 322）　·　生成日期：2026-10-02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12533"/>
                </a:solidFill>
                <a:latin typeface="微软雅黑"/>
              </a:rPr>
              <a:t>一、总血量与各房间血量变化（对比 3.2 第1期）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272"/>
                </a:solidFill>
                <a:latin typeface="微软雅黑"/>
              </a:rPr>
              <a:t>房间血量 = 房间内全部敌人血量之和；两期均为第五防线（3 条房间，等级 70）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11137392" cy="30480"/>
          </a:xfrm>
          <a:prstGeom prst="rect">
            <a:avLst/>
          </a:prstGeom>
          <a:solidFill>
            <a:srgbClr val="E86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6675117" cy="1956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62860"/>
                <a:gridCol w="1533473"/>
                <a:gridCol w="1533473"/>
                <a:gridCol w="1353064"/>
                <a:gridCol w="992247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3.2 第1期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3.2 第2期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变化量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变化率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12533"/>
                          </a:solidFill>
                          <a:latin typeface="微软雅黑"/>
                        </a:rPr>
                        <a:t>总血量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12533"/>
                          </a:solidFill>
                          <a:latin typeface="微软雅黑"/>
                        </a:rPr>
                        <a:t>167,807,793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12533"/>
                          </a:solidFill>
                          <a:latin typeface="微软雅黑"/>
                        </a:rPr>
                        <a:t>158,773,584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E8A6D"/>
                          </a:solidFill>
                          <a:latin typeface="微软雅黑"/>
                        </a:rPr>
                        <a:t>-9,034,209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E8A6D"/>
                          </a:solidFill>
                          <a:latin typeface="微软雅黑"/>
                        </a:rPr>
                        <a:t>-5.4%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房间 1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48,263,094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50,774,677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8620D"/>
                          </a:solidFill>
                          <a:latin typeface="微软雅黑"/>
                        </a:rPr>
                        <a:t>+2,511,583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8620D"/>
                          </a:solidFill>
                          <a:latin typeface="微软雅黑"/>
                        </a:rPr>
                        <a:t>+5.2%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房间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55,198,180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60,684,992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8620D"/>
                          </a:solidFill>
                          <a:latin typeface="微软雅黑"/>
                        </a:rPr>
                        <a:t>+5,486,812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8620D"/>
                          </a:solidFill>
                          <a:latin typeface="微软雅黑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房间 3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64,346,519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47,313,915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E8A6D"/>
                          </a:solidFill>
                          <a:latin typeface="微软雅黑"/>
                        </a:rPr>
                        <a:t>-17,032,604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E8A6D"/>
                          </a:solidFill>
                          <a:latin typeface="微软雅黑"/>
                        </a:rPr>
                        <a:t>-26.5%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60520"/>
            <a:ext cx="6675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533"/>
                </a:solidFill>
                <a:latin typeface="微软雅黑"/>
              </a:rPr>
              <a:t>要点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· 总血量 -5.4%（-9,034,209），本期整体变轻，主要来自房间 3 血量大幅下调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· 房间 1 +5.2%、房间 2 +9.9%，小怪与精英怪数量更多、更吃清杂能力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· 房间 3 -26.5%，为总血量下降的主因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52360" y="1417320"/>
          <a:ext cx="42519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5989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72"/>
                </a:solidFill>
                <a:latin typeface="微软雅黑"/>
              </a:rPr>
              <a:t>纵轴与数值标签单位：万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12533"/>
                </a:solidFill>
                <a:latin typeface="微软雅黑"/>
              </a:rPr>
              <a:t>二、Boss 血量变化（三间房 Boss 全部更换）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272"/>
                </a:solidFill>
                <a:latin typeface="微软雅黑"/>
              </a:rPr>
              <a:t>本期 Boss 单体血量全线下调，杂兵/精英怪占比明显上升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11137392" cy="30480"/>
          </a:xfrm>
          <a:prstGeom prst="rect">
            <a:avLst/>
          </a:prstGeom>
          <a:solidFill>
            <a:srgbClr val="E86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76" cy="15727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65395"/>
                <a:gridCol w="2681653"/>
                <a:gridCol w="1823524"/>
                <a:gridCol w="2681653"/>
                <a:gridCol w="1823524"/>
                <a:gridCol w="1179927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房间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上期 Boss（3.2 第1期）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血量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本期 Boss（3.2 第2期）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血量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变化率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12533"/>
                          </a:solidFill>
                          <a:latin typeface="微软雅黑"/>
                        </a:rPr>
                        <a:t>房间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缄枢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38,606,062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「征服者」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35,693,592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E8A6D"/>
                          </a:solidFill>
                          <a:latin typeface="微软雅黑"/>
                        </a:rPr>
                        <a:t>-7.5%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12533"/>
                          </a:solidFill>
                          <a:latin typeface="微软雅黑"/>
                        </a:rPr>
                        <a:t>房间 2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遴命者·「骇鸟」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43,560,946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秽蚀·狛野真斗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41,984,158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E8A6D"/>
                          </a:solidFill>
                          <a:latin typeface="微软雅黑"/>
                        </a:rPr>
                        <a:t>-3.6%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12533"/>
                          </a:solidFill>
                          <a:latin typeface="微软雅黑"/>
                        </a:rPr>
                        <a:t>房间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幻矢单元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51,892,463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多佩冈亚·星徽·比利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12533"/>
                          </a:solidFill>
                          <a:latin typeface="微软雅黑"/>
                        </a:rPr>
                        <a:t>37,141,323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E8A6D"/>
                          </a:solidFill>
                          <a:latin typeface="微软雅黑"/>
                        </a:rPr>
                        <a:t>-28.4%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88620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533"/>
                </a:solidFill>
                <a:latin typeface="微软雅黑"/>
              </a:rPr>
              <a:t>要点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· 三名 Boss 血量全部下降：-7.5% / -3.6% / -28.4%；Boss 合计 134,059,471 → 114,819,073（-14.4%）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· 房间 3 Boss「幻矢单元 → 多佩冈亚·星徽·比利」下调幅度最大（约 -28%），失衡时间 12 秒 → 7 秒，更快但也更难打满失衡窗口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· 杂兵与精英怪总血量：房间1 约 966万 → 1508万、房间2 约 1164万 → 1870万、房间3 约 1245万 → 1017万，前两间清杂压力显著上升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20D"/>
                </a:solidFill>
                <a:latin typeface="微软雅黑"/>
              </a:rPr>
              <a:t>· 结论：本期难度重心从「单 Boss 长线输出」转向「前两间清杂 + Boss 速杀」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12533"/>
                </a:solidFill>
                <a:latin typeface="微软雅黑"/>
              </a:rPr>
              <a:t>三、Buff 情况（关卡增益逐房间对比）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272"/>
                </a:solidFill>
                <a:latin typeface="微软雅黑"/>
              </a:rPr>
              <a:t>上期围绕锐化 / 异常 / 以太，本期改为连携击破 / 冰以太 / 火电爆发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11137392" cy="30480"/>
          </a:xfrm>
          <a:prstGeom prst="rect">
            <a:avLst/>
          </a:prstGeom>
          <a:solidFill>
            <a:srgbClr val="E86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620D"/>
                </a:solidFill>
                <a:latin typeface="微软雅黑"/>
              </a:rPr>
              <a:t>房间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64208"/>
            <a:ext cx="3611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5A6272"/>
                </a:solidFill>
                <a:latin typeface="微软雅黑"/>
              </a:rPr>
              <a:t>上期：矢刃摧坚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A6272"/>
                </a:solidFill>
                <a:latin typeface="微软雅黑"/>
              </a:rPr>
              <a:t>代理人的锐化伤害提升25%，防御力提升15%。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A6272"/>
                </a:solidFill>
                <a:latin typeface="微软雅黑"/>
              </a:rPr>
              <a:t>代理人命中敌人且触发暴击后，若敌人处于失衡状态，失衡易伤倍率提升20%，持续10秒，重复触发时刷新持续时间。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125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12533"/>
                </a:solidFill>
                <a:latin typeface="微软雅黑"/>
              </a:rPr>
              <a:t>本期：御风惊雷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533"/>
                </a:solidFill>
                <a:latin typeface="微软雅黑"/>
              </a:rPr>
              <a:t>代理人的锐化伤害提升20%，击杀普通敌人后，[击破]特性的代理人恢复15点能量。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533"/>
                </a:solidFill>
                <a:latin typeface="微软雅黑"/>
              </a:rPr>
              <a:t>代理人的[连携技]命中敌人后，其失衡恢复速度降低15%，持续15秒，重复触发时刷新持续时间。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9392" y="129844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620D"/>
                </a:solidFill>
                <a:latin typeface="微软雅黑"/>
              </a:rPr>
              <a:t>房间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9392" y="1664208"/>
            <a:ext cx="3611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5A6272"/>
                </a:solidFill>
                <a:latin typeface="微软雅黑"/>
              </a:rPr>
              <a:t>上期：异潮弥涌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A6272"/>
                </a:solidFill>
                <a:latin typeface="微软雅黑"/>
              </a:rPr>
              <a:t>代理人造成的异常积蓄效率提升15%，造成的属性异常伤害提升20%。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A6272"/>
                </a:solidFill>
                <a:latin typeface="微软雅黑"/>
              </a:rPr>
              <a:t>若队伍内有2名/3名[异常]特性的代理人，代理人的异常精通分别提升20/60点。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125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12533"/>
                </a:solidFill>
                <a:latin typeface="微软雅黑"/>
              </a:rPr>
              <a:t>本期：冰锋碎厄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533"/>
                </a:solidFill>
                <a:latin typeface="微软雅黑"/>
              </a:rPr>
              <a:t>代理人的冰属性伤害与以太伤害提升25%，冰属性与以太属性异常积蓄效率提升15%。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533"/>
                </a:solidFill>
                <a:latin typeface="微软雅黑"/>
              </a:rPr>
              <a:t>代理人使敌人进入属性异常状态后，敌人的防御力降低10%，持续10秒，重复触发时刷新持续时间。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5864" y="129844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620D"/>
                </a:solidFill>
                <a:latin typeface="微软雅黑"/>
              </a:rPr>
              <a:t>房间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5864" y="1664208"/>
            <a:ext cx="3611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5A6272"/>
                </a:solidFill>
                <a:latin typeface="微软雅黑"/>
              </a:rPr>
              <a:t>上期：蚀光染梦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A6272"/>
                </a:solidFill>
                <a:latin typeface="微软雅黑"/>
              </a:rPr>
              <a:t>代理人的以太伤害提升20%，异常精通提升20点。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A6272"/>
                </a:solidFill>
                <a:latin typeface="微软雅黑"/>
              </a:rPr>
              <a:t>代理人使敌人进入属性异常状态后，失衡易伤倍率提升20%，持续15秒，重复触发时刷新持续时间。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125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12533"/>
                </a:solidFill>
                <a:latin typeface="微软雅黑"/>
              </a:rPr>
              <a:t>本期：焚烬启明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533"/>
                </a:solidFill>
                <a:latin typeface="微软雅黑"/>
              </a:rPr>
              <a:t>代理人的火属性伤害和电属性伤害提升35%，[击破]特性的代理人造成的失衡值提升15%。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533"/>
                </a:solidFill>
                <a:latin typeface="微软雅黑"/>
              </a:rPr>
              <a:t>代理人使敌人进入失衡状态后，敌人的失衡易伤倍率提升30%，且失衡恢复速度降低15%，持续20秒，重复触发时刷新持续时间。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12533"/>
                </a:solidFill>
                <a:latin typeface="微软雅黑"/>
              </a:rPr>
              <a:t>数值上本期房间 3「焚烬启明」（火/电伤害 +35%）为三间最高；三间增益均绑定失衡/异常交互，击破与异常角色通用性更好。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12533"/>
                </a:solidFill>
                <a:latin typeface="微软雅黑"/>
              </a:rPr>
              <a:t>四、弱点情况（Boss 弱点 / 抗性）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272"/>
                </a:solidFill>
                <a:latin typeface="微软雅黑"/>
              </a:rPr>
              <a:t>三间房 Boss 全部抗物理，弱点转向 电 / 风 / 冰 / 火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11137392" cy="30480"/>
          </a:xfrm>
          <a:prstGeom prst="rect">
            <a:avLst/>
          </a:prstGeom>
          <a:solidFill>
            <a:srgbClr val="E86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75" cy="15727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34219"/>
                <a:gridCol w="2363025"/>
                <a:gridCol w="1593668"/>
                <a:gridCol w="1154035"/>
                <a:gridCol w="2363025"/>
                <a:gridCol w="1593668"/>
                <a:gridCol w="1154035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房间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本期 Boss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弱点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抗性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上期 Boss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弱点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抗性</a:t>
                      </a:r>
                    </a:p>
                  </a:txBody>
                  <a:tcPr marL="54864" marR="54864" marT="18288" marB="18288" anchor="ctr">
                    <a:solidFill>
                      <a:srgbClr val="242B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2533"/>
                          </a:solidFill>
                          <a:latin typeface="微软雅黑"/>
                        </a:rPr>
                        <a:t>房间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533"/>
                          </a:solidFill>
                          <a:latin typeface="微软雅黑"/>
                        </a:rPr>
                        <a:t>「征服者」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5FA8"/>
                          </a:solidFill>
                          <a:latin typeface="微软雅黑"/>
                        </a:rPr>
                        <a:t>电、风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03A2B"/>
                          </a:solidFill>
                          <a:latin typeface="微软雅黑"/>
                        </a:rPr>
                        <a:t>物理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533"/>
                          </a:solidFill>
                          <a:latin typeface="微软雅黑"/>
                        </a:rPr>
                        <a:t>缄枢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5FA8"/>
                          </a:solidFill>
                          <a:latin typeface="微软雅黑"/>
                        </a:rPr>
                        <a:t>物理、电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03A2B"/>
                          </a:solidFill>
                          <a:latin typeface="微软雅黑"/>
                        </a:rPr>
                        <a:t>以太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2533"/>
                          </a:solidFill>
                          <a:latin typeface="微软雅黑"/>
                        </a:rPr>
                        <a:t>房间 2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533"/>
                          </a:solidFill>
                          <a:latin typeface="微软雅黑"/>
                        </a:rPr>
                        <a:t>秽蚀·狛野真斗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5FA8"/>
                          </a:solidFill>
                          <a:latin typeface="微软雅黑"/>
                        </a:rPr>
                        <a:t>冰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03A2B"/>
                          </a:solidFill>
                          <a:latin typeface="微软雅黑"/>
                        </a:rPr>
                        <a:t>物理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533"/>
                          </a:solidFill>
                          <a:latin typeface="微软雅黑"/>
                        </a:rPr>
                        <a:t>遴命者·「骇鸟」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5FA8"/>
                          </a:solidFill>
                          <a:latin typeface="微软雅黑"/>
                        </a:rPr>
                        <a:t>冰、物理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03A2B"/>
                          </a:solidFill>
                          <a:latin typeface="微软雅黑"/>
                        </a:rPr>
                        <a:t>电</a:t>
                      </a:r>
                    </a:p>
                  </a:txBody>
                  <a:tcPr marL="54864" marR="54864" marT="18288" marB="18288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2533"/>
                          </a:solidFill>
                          <a:latin typeface="微软雅黑"/>
                        </a:rPr>
                        <a:t>房间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533"/>
                          </a:solidFill>
                          <a:latin typeface="微软雅黑"/>
                        </a:rPr>
                        <a:t>多佩冈亚·星徽·比利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5FA8"/>
                          </a:solidFill>
                          <a:latin typeface="微软雅黑"/>
                        </a:rPr>
                        <a:t>火、电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03A2B"/>
                          </a:solidFill>
                          <a:latin typeface="微软雅黑"/>
                        </a:rPr>
                        <a:t>物理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533"/>
                          </a:solidFill>
                          <a:latin typeface="微软雅黑"/>
                        </a:rPr>
                        <a:t>幻矢单元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5FA8"/>
                          </a:solidFill>
                          <a:latin typeface="微软雅黑"/>
                        </a:rPr>
                        <a:t>物理、以太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03A2B"/>
                          </a:solidFill>
                          <a:latin typeface="微软雅黑"/>
                        </a:rPr>
                        <a:t>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88620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533"/>
                </a:solidFill>
                <a:latin typeface="微软雅黑"/>
              </a:rPr>
              <a:t>要点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20D"/>
                </a:solidFill>
                <a:latin typeface="微软雅黑"/>
              </a:rPr>
              <a:t>· 本期三名 Boss 全部抗物理（上期三名 Boss 无一抗物理），物理主 C 本期全面受损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· 弱点覆盖：电（房间1 征服者）、冰（房间2 狛野真斗）、火/电（房间3 比利）；小怪层弱点以 火/风/电 为主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· 杂兵抗性很少（非 Boss 敌人仅拉赫穆抗物理、多佩冈亚·波可娜抗冰），非物理属性队伍基本不受抗性限制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· 上期三名 Boss 抗性为 以太/电/火，无一抗物理；本期弱点全面换血，与房间增益（火电/冰以太）互相呼应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12533"/>
                </a:solidFill>
                <a:latin typeface="微软雅黑"/>
              </a:rPr>
              <a:t>小结：3.2 第2期相比第1期怎么打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11137392" cy="30480"/>
          </a:xfrm>
          <a:prstGeom prst="rect">
            <a:avLst/>
          </a:prstGeom>
          <a:solidFill>
            <a:srgbClr val="E86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155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2704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620D"/>
                </a:solidFill>
                <a:latin typeface="微软雅黑"/>
              </a:rPr>
              <a:t>1. 更轻但更散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总血量 -5.4%，Boss 合计 -14.4%；但前两间杂兵血量 +56% / +61%，需要带清杂位。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24328"/>
            <a:ext cx="11155680" cy="1024128"/>
          </a:xfrm>
          <a:prstGeom prst="rect">
            <a:avLst/>
          </a:prstGeom>
          <a:solidFill>
            <a:srgbClr val="F3F5F9"/>
          </a:solidFill>
          <a:ln w="9525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34056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620D"/>
                </a:solidFill>
                <a:latin typeface="微软雅黑"/>
              </a:rPr>
              <a:t>2. 物理队避雷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三名 Boss 全部抗物理，本期主 C 优先选 电 / 火 / 冰 / 风属性。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831336"/>
            <a:ext cx="11155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41064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620D"/>
                </a:solidFill>
                <a:latin typeface="微软雅黑"/>
              </a:rPr>
              <a:t>3. 增益吃操作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三间增益都绑定失衡/异常触发（易伤倍率 +20~30%、防 -10%），击破位和异常位收益高。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038344"/>
            <a:ext cx="11155680" cy="1024128"/>
          </a:xfrm>
          <a:prstGeom prst="rect">
            <a:avLst/>
          </a:prstGeom>
          <a:solidFill>
            <a:srgbClr val="F3F5F9"/>
          </a:solidFill>
          <a:ln w="9525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4807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620D"/>
                </a:solidFill>
                <a:latin typeface="微软雅黑"/>
              </a:rPr>
              <a:t>4. 速杀窗口变短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533"/>
                </a:solidFill>
                <a:latin typeface="微软雅黑"/>
              </a:rPr>
              <a:t>房间 3 Boss 失衡时间 7 秒（上期 12 秒），爆发期要卡在失衡窗口内。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